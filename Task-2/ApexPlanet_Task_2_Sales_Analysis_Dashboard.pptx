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10765255905511"/>
          <c:y val="0.11323687449324493"/>
          <c:w val="0.84182984744094491"/>
          <c:h val="0.7201709652338690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Education</c:v>
                </c:pt>
                <c:pt idx="2">
                  <c:v>Grocery</c:v>
                </c:pt>
                <c:pt idx="3">
                  <c:v>Furniture</c:v>
                </c:pt>
                <c:pt idx="4">
                  <c:v>Fashion</c:v>
                </c:pt>
              </c:strCache>
            </c:strRef>
          </c:cat>
          <c:val>
            <c:numRef>
              <c:f>Sheet1!$B$2:$B$6</c:f>
              <c:numCache>
                <c:formatCode>#,##0.00</c:formatCode>
                <c:ptCount val="5"/>
                <c:pt idx="0">
                  <c:v>50778581.700000003</c:v>
                </c:pt>
                <c:pt idx="1">
                  <c:v>25031689.399999999</c:v>
                </c:pt>
                <c:pt idx="2">
                  <c:v>22231711.280000001</c:v>
                </c:pt>
                <c:pt idx="3">
                  <c:v>21521561.48</c:v>
                </c:pt>
                <c:pt idx="4">
                  <c:v>19835895.789999999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17304576"/>
        <c:axId val="1617305120"/>
      </c:barChart>
      <c:catAx>
        <c:axId val="1617304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617305120"/>
        <c:crosses val="autoZero"/>
        <c:auto val="1"/>
        <c:lblAlgn val="ctr"/>
        <c:lblOffset val="100"/>
        <c:noMultiLvlLbl val="0"/>
      </c:catAx>
      <c:valAx>
        <c:axId val="1617305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617304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Laptop</c:v>
                </c:pt>
                <c:pt idx="1">
                  <c:v>Mobile</c:v>
                </c:pt>
                <c:pt idx="2">
                  <c:v>Book</c:v>
                </c:pt>
                <c:pt idx="3">
                  <c:v>Rice</c:v>
                </c:pt>
                <c:pt idx="4">
                  <c:v>Chair</c:v>
                </c:pt>
              </c:strCache>
            </c:strRef>
          </c:cat>
          <c:val>
            <c:numRef>
              <c:f>Sheet1!$B$2:$B$6</c:f>
              <c:numCache>
                <c:formatCode>#,##0.00</c:formatCode>
                <c:ptCount val="5"/>
                <c:pt idx="0">
                  <c:v>25443008.510000002</c:v>
                </c:pt>
                <c:pt idx="1">
                  <c:v>25335573.190000001</c:v>
                </c:pt>
                <c:pt idx="2">
                  <c:v>25031689.399999999</c:v>
                </c:pt>
                <c:pt idx="3">
                  <c:v>22231711.280000001</c:v>
                </c:pt>
                <c:pt idx="4">
                  <c:v>21521561.48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17299680"/>
        <c:axId val="1567363776"/>
      </c:barChart>
      <c:catAx>
        <c:axId val="1617299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567363776"/>
        <c:crosses val="autoZero"/>
        <c:auto val="1"/>
        <c:lblAlgn val="ctr"/>
        <c:lblOffset val="100"/>
        <c:noMultiLvlLbl val="0"/>
      </c:catAx>
      <c:valAx>
        <c:axId val="1567363776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6172996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9910D-542D-43F4-AFD0-A7A0B053D8E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8D99-98C5-4EB7-9E13-41163AF2240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054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9910D-542D-43F4-AFD0-A7A0B053D8E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8D99-98C5-4EB7-9E13-41163AF22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218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9910D-542D-43F4-AFD0-A7A0B053D8E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8D99-98C5-4EB7-9E13-41163AF2240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920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9910D-542D-43F4-AFD0-A7A0B053D8E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8D99-98C5-4EB7-9E13-41163AF22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561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9910D-542D-43F4-AFD0-A7A0B053D8E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8D99-98C5-4EB7-9E13-41163AF22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694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9910D-542D-43F4-AFD0-A7A0B053D8E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8D99-98C5-4EB7-9E13-41163AF22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243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9910D-542D-43F4-AFD0-A7A0B053D8E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8D99-98C5-4EB7-9E13-41163AF22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397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C39910D-542D-43F4-AFD0-A7A0B053D8E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8CA8D99-98C5-4EB7-9E13-41163AF22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6051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9910D-542D-43F4-AFD0-A7A0B053D8E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8D99-98C5-4EB7-9E13-41163AF22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360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9910D-542D-43F4-AFD0-A7A0B053D8E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8D99-98C5-4EB7-9E13-41163AF22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578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9910D-542D-43F4-AFD0-A7A0B053D8E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A8D99-98C5-4EB7-9E13-41163AF224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203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C39910D-542D-43F4-AFD0-A7A0B053D8E5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8CA8D99-98C5-4EB7-9E13-41163AF22409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660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55348"/>
            <a:ext cx="9144000" cy="572788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376423"/>
            <a:ext cx="9144000" cy="2954038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&amp; Business Insights</a:t>
            </a:r>
          </a:p>
          <a:p>
            <a:pPr algn="ctr">
              <a:lnSpc>
                <a:spcPct val="10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ApexPlanet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Analytics Internship</a:t>
            </a:r>
          </a:p>
          <a:p>
            <a:pPr algn="ctr">
              <a:lnSpc>
                <a:spcPct val="1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2: EDA, SQL &amp; Dashboard Mock-up</a:t>
            </a:r>
          </a:p>
          <a:p>
            <a:pPr algn="ctr">
              <a:lnSpc>
                <a:spcPct val="10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1,000 Sales Records</a:t>
            </a:r>
          </a:p>
          <a:p>
            <a:pPr algn="ctr">
              <a:lnSpc>
                <a:spcPct val="1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Python, SQL, Excel &amp; PowerPoint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0" y="5175849"/>
            <a:ext cx="914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FOCUS:</a:t>
            </a:r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SALES PERFORMANCE • BUSINESS QUESTIONS • DATA-DRIVEN INSIGHTS</a:t>
            </a:r>
            <a:endParaRPr lang="en-IN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224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63729"/>
            <a:ext cx="10058400" cy="59539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081441"/>
            <a:ext cx="1872000" cy="11520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097280" y="2081441"/>
            <a:ext cx="1872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Sales </a:t>
            </a:r>
          </a:p>
          <a:p>
            <a:endParaRPr lang="en-IN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₹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13.94 Cr</a:t>
            </a:r>
          </a:p>
          <a:p>
            <a:endParaRPr lang="en-IN" dirty="0"/>
          </a:p>
        </p:txBody>
      </p:sp>
      <p:sp>
        <p:nvSpPr>
          <p:cNvPr id="7" name="Rounded Rectangle 6"/>
          <p:cNvSpPr/>
          <p:nvPr/>
        </p:nvSpPr>
        <p:spPr>
          <a:xfrm>
            <a:off x="3849038" y="2081441"/>
            <a:ext cx="1872000" cy="11520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3849038" y="2081441"/>
            <a:ext cx="1872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Records </a:t>
            </a:r>
          </a:p>
          <a:p>
            <a:endParaRPr lang="en-IN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1,000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0" name="Rounded Rectangle 9"/>
          <p:cNvSpPr/>
          <p:nvPr/>
        </p:nvSpPr>
        <p:spPr>
          <a:xfrm>
            <a:off x="6600796" y="2081441"/>
            <a:ext cx="1872000" cy="11520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6600796" y="2081441"/>
            <a:ext cx="1872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</a:t>
            </a:r>
          </a:p>
          <a:p>
            <a:endParaRPr lang="en-IN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5,435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2" name="Rounded Rectangle 11"/>
          <p:cNvSpPr/>
          <p:nvPr/>
        </p:nvSpPr>
        <p:spPr>
          <a:xfrm>
            <a:off x="9352554" y="2081441"/>
            <a:ext cx="1872000" cy="1152000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9352554" y="2081441"/>
            <a:ext cx="1872000" cy="115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Sales per Record 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₹1.39 L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1209423" y="4881086"/>
            <a:ext cx="98341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ELECTRONICS CONTRIBUTED THE HIGHEST SALES, WHILE THE DATASET RECORDED ₹13.94 CR IN TOTAL SALES ACROSS 1,000 RECORDS. A TOTAL QUANTITY OF 5,435 WAS SOLD, WITH AVERAGE SALES OF APPROXIMATELY ₹1.39 L PER RECORD.</a:t>
            </a:r>
            <a:endParaRPr lang="en-IN" sz="16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394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0051" y="155103"/>
            <a:ext cx="10058400" cy="54363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Category-wise Sales</a:t>
            </a:r>
            <a:endParaRPr lang="en-IN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86754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Sales contribution by product category</a:t>
            </a:r>
          </a:p>
          <a:p>
            <a:pPr>
              <a:lnSpc>
                <a:spcPct val="100000"/>
              </a:lnSpc>
            </a:pP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the highest sales, contributing approximately ₹5.08 Cr. Education, Grocery, Furniture and Fashion followed, with Education ranking second.</a:t>
            </a: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1894831742"/>
              </p:ext>
            </p:extLst>
          </p:nvPr>
        </p:nvGraphicFramePr>
        <p:xfrm>
          <a:off x="1224000" y="1332000"/>
          <a:ext cx="9834113" cy="32501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85106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0051" y="146477"/>
            <a:ext cx="10058400" cy="5522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Products by Sales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19"/>
            <a:ext cx="10058400" cy="185028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SALES-GENERATING PRODUCTS</a:t>
            </a:r>
          </a:p>
          <a:p>
            <a:pPr>
              <a:lnSpc>
                <a:spcPct val="10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generated the highest sales among the top 5 products, followed closely by Mobile and Book. The top 5 products highlight the key contributors to overall sales performance.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3339885188"/>
              </p:ext>
            </p:extLst>
          </p:nvPr>
        </p:nvGraphicFramePr>
        <p:xfrm>
          <a:off x="1224000" y="1260000"/>
          <a:ext cx="9834113" cy="31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9428876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211</TotalTime>
  <Words>179</Words>
  <Application>Microsoft Office PowerPoint</Application>
  <PresentationFormat>Widescreen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Calibri</vt:lpstr>
      <vt:lpstr>Calibri Light</vt:lpstr>
      <vt:lpstr>Times New Roman</vt:lpstr>
      <vt:lpstr>Retrospect</vt:lpstr>
      <vt:lpstr>Sales Analysis Dashboard</vt:lpstr>
      <vt:lpstr>Key Performance Indicators</vt:lpstr>
      <vt:lpstr>Category-wise Sales</vt:lpstr>
      <vt:lpstr>Top 5 Products by Sales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21</cp:revision>
  <dcterms:created xsi:type="dcterms:W3CDTF">2026-09-05T09:46:09Z</dcterms:created>
  <dcterms:modified xsi:type="dcterms:W3CDTF">2026-09-05T13:30:32Z</dcterms:modified>
</cp:coreProperties>
</file>